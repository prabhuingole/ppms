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6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0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9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1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8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8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0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0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48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6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7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8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Sambhav PMS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Project Overview: Enterprise Resource and Project Management System</a:t>
            </a:r>
          </a:p>
          <a:p>
            <a:pPr>
              <a:defRPr sz="1600"/>
            </a:pPr>
            <a:r>
              <a:t>Purpose: Centralize workforce management, project allocation, and attendance tracking.</a:t>
            </a:r>
          </a:p>
          <a:p>
            <a:pPr>
              <a:defRPr sz="1600"/>
            </a:pPr>
            <a:r>
              <a:t>Problem Statement: Fragmented legacy systems causing data silos and administrative overhead.</a:t>
            </a:r>
          </a:p>
          <a:p>
            <a:pPr>
              <a:defRPr sz="1600"/>
            </a:pPr>
            <a:r>
              <a:t>Target Users: Enterprise clients, Internal HR, Super Admins, Employees.</a:t>
            </a:r>
          </a:p>
          <a:p>
            <a:pPr>
              <a:defRPr sz="1600"/>
            </a:pPr>
            <a:r>
              <a:t>Business Domain: HRTech &amp; Enterprise SaaS.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Project Capabilities: End-to-end employee lifecycle, project tracking, and attendance management.</a:t>
            </a:r>
          </a:p>
          <a:p>
            <a:pPr>
              <a:defRPr sz="1600"/>
            </a:pPr>
            <a:r>
              <a:t>• Major Features: Multi-tenant company isolation, dynamic project allocation, automated timesheets, robust audit logging.</a:t>
            </a:r>
          </a:p>
          <a:p>
            <a:pPr>
              <a:defRPr sz="1600"/>
            </a:pPr>
            <a:r>
              <a:t>• Technology Overview: Next.js (React), FastAPI (Python), PostgreSQL, deployed on Vercel/Render.</a:t>
            </a:r>
          </a:p>
          <a:p>
            <a:pPr>
              <a:defRPr sz="1600"/>
            </a:pPr>
            <a:r>
              <a:t>• Architecture: Decoupled client-server model with RESTful APIs and JWT stateless authentication.</a:t>
            </a:r>
          </a:p>
          <a:p>
            <a:pPr>
              <a:defRPr sz="1600"/>
            </a:pPr>
            <a:r>
              <a:t>• Scale &amp; Complexity: Enterprise-grade multitenancy with role-based access control (RBAC).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• Frontend: Next.js SPA/SSR handling UI/UX and client state.</a:t>
            </a:r>
          </a:p>
          <a:p>
            <a:pPr>
              <a:defRPr sz="1600"/>
            </a:pPr>
            <a:r>
              <a:rPr dirty="0"/>
              <a:t>• Backend: </a:t>
            </a:r>
            <a:r>
              <a:rPr dirty="0" err="1"/>
              <a:t>FastAPI</a:t>
            </a:r>
            <a:r>
              <a:rPr dirty="0"/>
              <a:t> handling business logic, validation, and API routing.</a:t>
            </a:r>
          </a:p>
          <a:p>
            <a:pPr>
              <a:defRPr sz="1600"/>
            </a:pPr>
            <a:r>
              <a:rPr dirty="0"/>
              <a:t>• Database: PostgreSQL (Relational) via </a:t>
            </a:r>
            <a:r>
              <a:rPr dirty="0" err="1"/>
              <a:t>SQLAlchemy</a:t>
            </a:r>
            <a:r>
              <a:rPr dirty="0"/>
              <a:t> ORM.</a:t>
            </a:r>
          </a:p>
          <a:p>
            <a:pPr>
              <a:defRPr sz="1600"/>
            </a:pPr>
            <a:r>
              <a:rPr dirty="0"/>
              <a:t>• Authentication: JWT (JSON Web Tokens) with </a:t>
            </a:r>
            <a:r>
              <a:rPr dirty="0" err="1"/>
              <a:t>Bcrypt</a:t>
            </a:r>
            <a:r>
              <a:rPr dirty="0"/>
              <a:t> hashing.</a:t>
            </a:r>
          </a:p>
          <a:p>
            <a:pPr>
              <a:defRPr sz="1600"/>
            </a:pPr>
            <a:r>
              <a:rPr dirty="0"/>
              <a:t>• Storage: AWS S3 / Local volume for document uploads.</a:t>
            </a:r>
          </a:p>
          <a:p>
            <a:pPr>
              <a:defRPr sz="1600"/>
            </a:pPr>
            <a:r>
              <a:rPr dirty="0"/>
              <a:t>• Communication Flow: Client -&gt; HTTPS -&gt; Nginx/</a:t>
            </a:r>
            <a:r>
              <a:rPr dirty="0" err="1"/>
              <a:t>Vercel</a:t>
            </a:r>
            <a:r>
              <a:rPr dirty="0"/>
              <a:t> Edge -&gt; </a:t>
            </a:r>
            <a:r>
              <a:rPr dirty="0" err="1"/>
              <a:t>FastAPI</a:t>
            </a:r>
            <a:r>
              <a:rPr dirty="0"/>
              <a:t> -&gt; PostgreSQL.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[Diagram Placeholder: 3-Tier Architecture Diagram]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Frontend: Next.js 15, React 19, Tailwind CSS v4, Zustand. (Selected for SSR capabilities and modern UI components).</a:t>
            </a:r>
          </a:p>
          <a:p>
            <a:pPr>
              <a:defRPr sz="1600"/>
            </a:pPr>
            <a:r>
              <a:t>• Backend: FastAPI, Python 3. (Selected for async performance and automatic OpenAPI docs).</a:t>
            </a:r>
          </a:p>
          <a:p>
            <a:pPr>
              <a:defRPr sz="1600"/>
            </a:pPr>
            <a:r>
              <a:t>• Database &amp; ORM: PostgreSQL, SQLAlchemy, Alembic. (Selected for ACID compliance and robust migrations).</a:t>
            </a:r>
          </a:p>
          <a:p>
            <a:pPr>
              <a:defRPr sz="1600"/>
            </a:pPr>
            <a:r>
              <a:t>• Authentication &amp; Security: PyJWT, Passlib, CORS middleware.</a:t>
            </a:r>
          </a:p>
          <a:p>
            <a:pPr>
              <a:defRPr sz="1600"/>
            </a:pPr>
            <a:r>
              <a:t>• DevOps &amp; Deployment: Docker, Vercel, Uvicorn/Gunicorn. (Selected for CI/CD automation and scaling).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t>Frontend:</a:t>
            </a:r>
          </a:p>
          <a:p>
            <a:pPr lvl="1">
              <a:defRPr sz="1600"/>
            </a:pPr>
            <a:r>
              <a:t>  /app: Next.js App Router (Pages &amp; Layouts)</a:t>
            </a:r>
          </a:p>
          <a:p>
            <a:pPr lvl="1">
              <a:defRPr sz="1600"/>
            </a:pPr>
            <a:r>
              <a:t>  /components: Reusable UI, Shadcn, layout wrappers</a:t>
            </a:r>
          </a:p>
          <a:p>
            <a:pPr lvl="1">
              <a:defRPr sz="1600"/>
            </a:pPr>
            <a:r>
              <a:t>  /store: Zustand global state (authStore)</a:t>
            </a:r>
          </a:p>
          <a:p>
            <a:pPr lvl="1">
              <a:defRPr sz="1600"/>
            </a:pPr>
            <a:r>
              <a:t>  /lib &amp; /utils: Helper functions, API clients (Axios)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Backend:</a:t>
            </a:r>
          </a:p>
          <a:p>
            <a:pPr lvl="1">
              <a:defRPr sz="1600"/>
            </a:pPr>
            <a:r>
              <a:t>  /app/routes: FastAPI endpoint controllers</a:t>
            </a:r>
          </a:p>
          <a:p>
            <a:pPr lvl="1">
              <a:defRPr sz="1600"/>
            </a:pPr>
            <a:r>
              <a:t>  /app/models: SQLAlchemy DB schemas</a:t>
            </a:r>
          </a:p>
          <a:p>
            <a:pPr lvl="1">
              <a:defRPr sz="1600"/>
            </a:pPr>
            <a:r>
              <a:t>  /app/schemas: Pydantic validation models</a:t>
            </a:r>
          </a:p>
          <a:p>
            <a:pPr lvl="1">
              <a:defRPr sz="1600"/>
            </a:pPr>
            <a:r>
              <a:t>  /app/core: Security, config, DB session, tenant middleware</a:t>
            </a:r>
          </a:p>
          <a:p>
            <a:pPr lvl="1">
              <a:defRPr sz="1600"/>
            </a:pPr>
            <a:r>
              <a:t>  /alembic: Database migration scripts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t>• Routing: Next.js App Router for nested layouts and protected routes.</a:t>
            </a:r>
          </a:p>
          <a:p>
            <a:pPr>
              <a:defRPr sz="1600"/>
            </a:pPr>
            <a:r>
              <a:t>• State Management: Zustand for lightweight, global auth state; React hooks for local state.</a:t>
            </a:r>
          </a:p>
          <a:p>
            <a:pPr>
              <a:defRPr sz="1600"/>
            </a:pPr>
            <a:r>
              <a:t>• API Layer: Axios instance with request/response interceptors for token injection and error handling.</a:t>
            </a:r>
          </a:p>
          <a:p>
            <a:pPr>
              <a:defRPr sz="1600"/>
            </a:pPr>
            <a:r>
              <a:t>• Validation: Zod schemas integrated with React Hook Form.</a:t>
            </a:r>
          </a:p>
          <a:p>
            <a:pPr>
              <a:defRPr sz="1600"/>
            </a:pPr>
            <a:r>
              <a:t>• Reusable Components: Modular Shadcn UI architecture.</a:t>
            </a:r>
          </a:p>
          <a:p>
            <a:pPr>
              <a:defRPr sz="1600"/>
            </a:pPr>
            <a:r>
              <a:t>• Authentication Flow: Login -&gt; Store JWT in Zustand/Cookies -&gt; Attach to Axios -&gt; Protected Route rendering.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t>• Controllers (Routes): FastAPI router functions mapping HTTP verbs to business logic.</a:t>
            </a:r>
          </a:p>
          <a:p>
            <a:pPr>
              <a:defRPr sz="1600"/>
            </a:pPr>
            <a:r>
              <a:t>• Services/Business Logic: Handled within routes or abstracted core modules.</a:t>
            </a:r>
          </a:p>
          <a:p>
            <a:pPr>
              <a:defRPr sz="1600"/>
            </a:pPr>
            <a:r>
              <a:t>• Repositories (Models): SQLAlchemy ORM models abstracting SQL queries.</a:t>
            </a:r>
          </a:p>
          <a:p>
            <a:pPr>
              <a:defRPr sz="1600"/>
            </a:pPr>
            <a:r>
              <a:t>• Middleware: TenantContext middleware for isolating database queries per company.</a:t>
            </a:r>
          </a:p>
          <a:p>
            <a:pPr>
              <a:defRPr sz="1600"/>
            </a:pPr>
            <a:r>
              <a:t>• Validation: Pydantic v2 ensuring strict request payload typing.</a:t>
            </a:r>
          </a:p>
          <a:p>
            <a:pPr>
              <a:defRPr sz="1600"/>
            </a:pPr>
            <a:r>
              <a:t>• Configuration: Pydantic BaseSettings loading .env secrets.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Type: PostgreSQL (Relational).</a:t>
            </a:r>
          </a:p>
          <a:p>
            <a:pPr>
              <a:defRPr sz="1600"/>
            </a:pPr>
            <a:r>
              <a:t>• Core Tables: Users, Companies, Projects, Timesheets, Attendance, AuditLogs.</a:t>
            </a:r>
          </a:p>
          <a:p>
            <a:pPr>
              <a:defRPr sz="1600"/>
            </a:pPr>
            <a:r>
              <a:t>• Relationships: Company 1:N Users. Users M:N Projects (Allocations).</a:t>
            </a:r>
          </a:p>
          <a:p>
            <a:pPr>
              <a:defRPr sz="1600"/>
            </a:pPr>
            <a:r>
              <a:t>• Normalization: 3NF applied to eliminate redundancy.</a:t>
            </a:r>
          </a:p>
          <a:p>
            <a:pPr>
              <a:defRPr sz="1600"/>
            </a:pPr>
            <a:r>
              <a:t>• Constraints &amp; Indexes: Foreign keys enforce referential integrity; unique constraints on emails; indexes on date/tenant columns.</a:t>
            </a:r>
          </a:p>
          <a:p>
            <a:pPr>
              <a:defRPr sz="1600"/>
            </a:pPr>
            <a:r>
              <a:t>• Audit Columns: created_at, updated_at on all entities.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Flow: User POSTs credentials -&gt; Validated against DB -&gt; JWT issued.</a:t>
            </a:r>
          </a:p>
          <a:p>
            <a:pPr>
              <a:defRPr sz="1600"/>
            </a:pPr>
            <a:r>
              <a:t>• JWT: Contains sub (user_id), role, and tenant context. Short-lived for security.</a:t>
            </a:r>
          </a:p>
          <a:p>
            <a:pPr>
              <a:defRPr sz="1600"/>
            </a:pPr>
            <a:r>
              <a:t>• Password Hashing: Bcrypt (via Passlib) with salt rounds to prevent rainbow table attacks.</a:t>
            </a:r>
          </a:p>
          <a:p>
            <a:pPr>
              <a:defRPr sz="1600"/>
            </a:pPr>
            <a:r>
              <a:t>• Session Management: Stateless. Client stores token securely and attaches as Bearer token.</a:t>
            </a:r>
          </a:p>
          <a:p>
            <a:pPr>
              <a:defRPr sz="1600"/>
            </a:pPr>
            <a:r>
              <a:t>• Logout: Client-side token destruction.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Model: Role-Based Access Control (RBAC).</a:t>
            </a:r>
          </a:p>
          <a:p>
            <a:pPr>
              <a:defRPr sz="1600"/>
            </a:pPr>
            <a:r>
              <a:t>• Roles: Superadmin (Global), Admin (Tenant-level), Employee, Intern.</a:t>
            </a:r>
          </a:p>
          <a:p>
            <a:pPr>
              <a:defRPr sz="1600"/>
            </a:pPr>
            <a:r>
              <a:t>• Route Protection: FastAPI Dependencies (`get_current_user`) verify role claims on every request.</a:t>
            </a:r>
          </a:p>
          <a:p>
            <a:pPr>
              <a:defRPr sz="1600"/>
            </a:pPr>
            <a:r>
              <a:t>• Row-Level Isolation: Tenant middleware ensures Admins only query/modify data within their `company_id`.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[Diagram Placeholder: Access Matrix Table]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Panels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Superadmin Panel: Global visibility, manages all companies, global audit logs. Full CRUD on system.</a:t>
            </a:r>
          </a:p>
          <a:p>
            <a:pPr>
              <a:defRPr sz="1600"/>
            </a:pPr>
            <a:r>
              <a:t>• Admin Panel: Scoped to a specific company. Manages internal employees, projects, and attendance.</a:t>
            </a:r>
          </a:p>
          <a:p>
            <a:pPr>
              <a:defRPr sz="1600"/>
            </a:pPr>
            <a:r>
              <a:t>• Employee Panel: Self-service dashboard. Logs attendance, submits timesheets, views personal project allocations.</a:t>
            </a:r>
          </a:p>
          <a:p>
            <a:pPr>
              <a:defRPr sz="1600"/>
            </a:pPr>
            <a:r>
              <a:t>• Guest/Public: Minimal login interface. No internal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Hierarchy:</a:t>
            </a:r>
          </a:p>
          <a:p>
            <a:pPr>
              <a:defRPr sz="1600"/>
            </a:pPr>
            <a:r>
              <a:t>1. Superadmin (Ultimate ownership, cross-tenant visibility)</a:t>
            </a:r>
          </a:p>
          <a:p>
            <a:pPr>
              <a:defRPr sz="1600"/>
            </a:pPr>
            <a:r>
              <a:t>2. Admin (Tenant ownership, manages managers/employees)</a:t>
            </a:r>
          </a:p>
          <a:p>
            <a:pPr>
              <a:defRPr sz="1600"/>
            </a:pPr>
            <a:r>
              <a:t>3. Employee / Intern (Individual contributors)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• Inheritance: Superadmins inherit Admin capabilities universally.</a:t>
            </a:r>
          </a:p>
          <a:p>
            <a:pPr>
              <a:defRPr sz="1600"/>
            </a:pPr>
            <a:r>
              <a:t>• Visibility: Admins cannot see other tenants'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Project Allocation: Admins assign employees to projects. Backend verifies tenant scopes. Frontend displays allocated tasks.</a:t>
            </a:r>
          </a:p>
          <a:p>
            <a:pPr>
              <a:defRPr sz="1600"/>
            </a:pPr>
            <a:r>
              <a:t>• Attendance Tracking: Employees clock in/out. Backend logs timestamps and calculates durations. IP/Geo-fencing supported.</a:t>
            </a:r>
          </a:p>
          <a:p>
            <a:pPr>
              <a:defRPr sz="1600"/>
            </a:pPr>
            <a:r>
              <a:t>• Timesheets: Daily hour logging against specific projects. Requires validation and approval workflows.</a:t>
            </a:r>
          </a:p>
          <a:p>
            <a:pPr>
              <a:defRPr sz="1600"/>
            </a:pPr>
            <a:r>
              <a:t>• Audit Logging: Global middleware intercepts critical actions (Create, Update, Delete) and logs who/when/what to the AuditLogs 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Module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t>• Auth Module: Login, token generation, identity verification.</a:t>
            </a:r>
          </a:p>
          <a:p>
            <a:pPr>
              <a:defRPr sz="1600"/>
            </a:pPr>
            <a:r>
              <a:t>• Companies Module: Tenant management, settings.</a:t>
            </a:r>
          </a:p>
          <a:p>
            <a:pPr>
              <a:defRPr sz="1600"/>
            </a:pPr>
            <a:r>
              <a:t>• Users Module: Employee lifecycle, profile management, role assignment.</a:t>
            </a:r>
          </a:p>
          <a:p>
            <a:pPr>
              <a:defRPr sz="1600"/>
            </a:pPr>
            <a:r>
              <a:t>• Projects Module: Project creation, client association, team allocation.</a:t>
            </a:r>
          </a:p>
          <a:p>
            <a:pPr>
              <a:defRPr sz="1600"/>
            </a:pPr>
            <a:r>
              <a:t>• Timesheets Module: Daily logging, submission.</a:t>
            </a:r>
          </a:p>
          <a:p>
            <a:pPr>
              <a:defRPr sz="1600"/>
            </a:pPr>
            <a:r>
              <a:t>• Attendance Module: Clock-in/out, monthly summaries, automated WFH triggers.</a:t>
            </a:r>
          </a:p>
          <a:p>
            <a:pPr>
              <a:defRPr sz="1600"/>
            </a:pPr>
            <a:r>
              <a:t>• Audit Logs Module: Immutable record of system changes for compliance.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Paradigm: RESTful JSON APIs.</a:t>
            </a:r>
          </a:p>
          <a:p>
            <a:pPr>
              <a:defRPr sz="1600"/>
            </a:pPr>
            <a:r>
              <a:t>• Endpoints: Pluralized nouns (e.g., /api/projects, /api/users).</a:t>
            </a:r>
          </a:p>
          <a:p>
            <a:pPr>
              <a:defRPr sz="1600"/>
            </a:pPr>
            <a:r>
              <a:t>• Validation: Pydantic strictly validates incoming JSON against expected schemas. Returns 422 on failure.</a:t>
            </a:r>
          </a:p>
          <a:p>
            <a:pPr>
              <a:defRPr sz="1600"/>
            </a:pPr>
            <a:r>
              <a:t>• Response Structure: Standardized payloads (items, total, page data).</a:t>
            </a:r>
          </a:p>
          <a:p>
            <a:pPr>
              <a:defRPr sz="1600"/>
            </a:pPr>
            <a:r>
              <a:t>• Status Codes: 200 (OK), 201 (Created), 400 (Bad Request), 401 (Unauthorized), 403 (Forbidden), 404 (Not Found).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Browser -&gt; Axios HTTP Request</a:t>
            </a:r>
          </a:p>
          <a:p>
            <a:pPr>
              <a:defRPr sz="1600"/>
            </a:pPr>
            <a:r>
              <a:t>2. Vercel/Nginx Reverse Proxy</a:t>
            </a:r>
          </a:p>
          <a:p>
            <a:pPr>
              <a:defRPr sz="1600"/>
            </a:pPr>
            <a:r>
              <a:t>3. FastAPI Middleware (CORS, Tenant Context)</a:t>
            </a:r>
          </a:p>
          <a:p>
            <a:pPr>
              <a:defRPr sz="1600"/>
            </a:pPr>
            <a:r>
              <a:t>4. Auth Dependency (Decodes JWT, fetches User)</a:t>
            </a:r>
          </a:p>
          <a:p>
            <a:pPr>
              <a:defRPr sz="1600"/>
            </a:pPr>
            <a:r>
              <a:t>5. Pydantic Validation (Checks body/params)</a:t>
            </a:r>
          </a:p>
          <a:p>
            <a:pPr>
              <a:defRPr sz="1600"/>
            </a:pPr>
            <a:r>
              <a:t>6. Route Controller (Business logic executed)</a:t>
            </a:r>
          </a:p>
          <a:p>
            <a:pPr>
              <a:defRPr sz="1600"/>
            </a:pPr>
            <a:r>
              <a:t>7. SQLAlchemy ORM (Database query)</a:t>
            </a:r>
          </a:p>
          <a:p>
            <a:pPr>
              <a:defRPr sz="1600"/>
            </a:pPr>
            <a:r>
              <a:t>8. JSON Response -&gt; Client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Authentication: Stateless JWT, no server-side session hijacking.</a:t>
            </a:r>
          </a:p>
          <a:p>
            <a:pPr>
              <a:defRPr sz="1600"/>
            </a:pPr>
            <a:r>
              <a:t>• Authorization: Strict RBAC and Multi-tenant data isolation.</a:t>
            </a:r>
          </a:p>
          <a:p>
            <a:pPr>
              <a:defRPr sz="1600"/>
            </a:pPr>
            <a:r>
              <a:t>• Passwords: Bcrypt hashing. Never stored in plaintext.</a:t>
            </a:r>
          </a:p>
          <a:p>
            <a:pPr>
              <a:defRPr sz="1600"/>
            </a:pPr>
            <a:r>
              <a:t>• Web Security: CORS policies restrict allowed origins. Pydantic prevents SQL Injection and XSS via strict type casting.</a:t>
            </a:r>
          </a:p>
          <a:p>
            <a:pPr>
              <a:defRPr sz="1600"/>
            </a:pPr>
            <a:r>
              <a:t>• Audit Logs: Immutable tracking of all write operations.</a:t>
            </a:r>
          </a:p>
          <a:p>
            <a:pPr>
              <a:defRPr sz="1600"/>
            </a:pPr>
            <a:r>
              <a:t>• Environment Secrets: Handled via secure .env configurations, not in source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CORS Middleware: Controls which domains can communicate with the API.</a:t>
            </a:r>
          </a:p>
          <a:p>
            <a:pPr>
              <a:defRPr sz="1600"/>
            </a:pPr>
            <a:r>
              <a:t>• Context Middleware: Sets current context (e.g., Tenant ID) for the request lifecycle, ensuring logs and queries are scoped correctly.</a:t>
            </a:r>
          </a:p>
          <a:p>
            <a:pPr>
              <a:defRPr sz="1600"/>
            </a:pPr>
            <a:r>
              <a:t>• DB Session Middleware: Yields a clean SQLAlchemy session per request, ensuring transactional integrity and automatic rollback on failure.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Frontend: React Hook Form + Zod provide immediate visual feedback before network requests.</a:t>
            </a:r>
          </a:p>
          <a:p>
            <a:pPr>
              <a:defRPr sz="1600"/>
            </a:pPr>
            <a:r>
              <a:t>• Backend: Pydantic v2 enforces strict type checks, max lengths, and regex patterns at the API boundary.</a:t>
            </a:r>
          </a:p>
          <a:p>
            <a:pPr>
              <a:defRPr sz="1600"/>
            </a:pPr>
            <a:r>
              <a:t>• Database: SQLAlchemy enforces NOT NULL, UNIQUE constraints, and Foreign Key integrity at the storage level.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Application Logs: AuditLog table records functional business events (who edited what project).</a:t>
            </a:r>
          </a:p>
          <a:p>
            <a:pPr>
              <a:defRPr sz="1600"/>
            </a:pPr>
            <a:r>
              <a:t>• System Logs: FastAPI/Uvicorn standard output captures HTTP requests, latencies, and traceback errors.</a:t>
            </a:r>
          </a:p>
          <a:p>
            <a:pPr>
              <a:defRPr sz="1600"/>
            </a:pPr>
            <a:r>
              <a:t>• Error Tracking: Global exception handlers intercept crashes and return sanitized error messages to the client to avoid leaking stack traces.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Database: Connection pooling via SQLAlchemy; selective indexing on high-read columns (user_id, date).</a:t>
            </a:r>
          </a:p>
          <a:p>
            <a:pPr>
              <a:defRPr sz="1600"/>
            </a:pPr>
            <a:r>
              <a:t>• API: Server-side pagination (limit/offset) for all list endpoints to prevent memory exhaustion.</a:t>
            </a:r>
          </a:p>
          <a:p>
            <a:pPr>
              <a:defRPr sz="1600"/>
            </a:pPr>
            <a:r>
              <a:t>• Frontend: Debounced search inputs, lazy loading of routes, and efficient re-rendering via Zustand.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Frontend: Deployed to Vercel (Edge Network/CDN) for global low-latency asset delivery.</a:t>
            </a:r>
          </a:p>
          <a:p>
            <a:pPr>
              <a:defRPr sz="1600"/>
            </a:pPr>
            <a:r>
              <a:t>• Backend: Containerized or run via Uvicorn/Gunicorn on Render/EC2 instances.</a:t>
            </a:r>
          </a:p>
          <a:p>
            <a:pPr>
              <a:defRPr sz="1600"/>
            </a:pPr>
            <a:r>
              <a:t>• Database: Neon Serverless Postgres for dynamic scaling and high availability.</a:t>
            </a:r>
          </a:p>
          <a:p>
            <a:pPr>
              <a:defRPr sz="1600"/>
            </a:pPr>
            <a:r>
              <a:t>• CI/CD: Automated deployments triggered by Git pushes to the main branch.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Storage: AWS S3 integration for storing user-uploaded documents and templates.</a:t>
            </a:r>
          </a:p>
          <a:p>
            <a:pPr>
              <a:defRPr sz="1600"/>
            </a:pPr>
            <a:r>
              <a:t>• Cloud Database: Neon (Managed Serverless Postgres).</a:t>
            </a:r>
          </a:p>
          <a:p>
            <a:pPr>
              <a:defRPr sz="1600"/>
            </a:pPr>
            <a:r>
              <a:t>• Frontend Hosting: Vercel Cloud Platform.</a:t>
            </a:r>
          </a:p>
          <a:p>
            <a:pPr>
              <a:defRPr sz="1600"/>
            </a:pPr>
            <a:r>
              <a:t>(Note: Architecture supports easy expansion for Email/SMS providers via decoupled service layers).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User Creation Flow: Superadmin creates Admin -&gt; Admin logs in -&gt; Admin creates Employee -&gt; Employee logs in.</a:t>
            </a:r>
          </a:p>
          <a:p>
            <a:pPr>
              <a:defRPr sz="1600"/>
            </a:pPr>
            <a:r>
              <a:t>• Task Lifecycle: Admin creates Project -&gt; Allocates Employee -&gt; Employee logs Time -&gt; System calculates attendance.</a:t>
            </a:r>
          </a:p>
          <a:p>
            <a:pPr>
              <a:defRPr sz="1600"/>
            </a:pPr>
            <a:r>
              <a:t>• Document Flow: User uploads file -&gt; Backend validates MIME type -&gt; Stores in S3 -&gt; DB saves URL reference.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Global Exception Handler: FastAPI captures uncaught exceptions, preventing server crashes.</a:t>
            </a:r>
          </a:p>
          <a:p>
            <a:pPr>
              <a:defRPr sz="1600"/>
            </a:pPr>
            <a:r>
              <a:t>• Graceful Degradation: Frontend catches 4xx/5xx errors and displays user-friendly Toasts (via Sonner) instead of breaking the UI.</a:t>
            </a:r>
          </a:p>
          <a:p>
            <a:pPr>
              <a:defRPr sz="1600"/>
            </a:pPr>
            <a:r>
              <a:t>• Validation Errors: 422 Unprocessable Entity returns specific field-level validation messages mapped to form inputs.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Security: Impeccable multi-tenant isolation and audit trails.</a:t>
            </a:r>
          </a:p>
          <a:p>
            <a:pPr>
              <a:defRPr sz="1600"/>
            </a:pPr>
            <a:r>
              <a:t>• Maintainability: Modular code structure, typed payloads (TypeScript + Pydantic).</a:t>
            </a:r>
          </a:p>
          <a:p>
            <a:pPr>
              <a:defRPr sz="1600"/>
            </a:pPr>
            <a:r>
              <a:t>• Scalability: Stateless architecture allows horizontal scaling of backend servers.</a:t>
            </a:r>
          </a:p>
          <a:p>
            <a:pPr>
              <a:defRPr sz="1600"/>
            </a:pPr>
            <a:r>
              <a:t>• Developer Experience: Hot-reloading, automated migrations (Alembic), component-driven UI.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Asynchronous Background Jobs: Implement Celery/Redis for heavy document generation and batch emails.</a:t>
            </a:r>
          </a:p>
          <a:p>
            <a:pPr>
              <a:defRPr sz="1600"/>
            </a:pPr>
            <a:r>
              <a:t>• Caching Layer: Introduce Redis to cache frequent read-heavy queries (e.g., user profiles).</a:t>
            </a:r>
          </a:p>
          <a:p>
            <a:pPr>
              <a:defRPr sz="1600"/>
            </a:pPr>
            <a:r>
              <a:t>• Microservices: Extract specific heavy modules into dedicated services if scaling demands increase.</a:t>
            </a:r>
          </a:p>
          <a:p>
            <a:pPr>
              <a:defRPr sz="1600"/>
            </a:pPr>
            <a:r>
              <a:t>• Observability: Integrate Datadog or Sentry for advanced APM and error tracing.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Engineering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DRY &amp; KISS Principles: Reusable Shadcn components significantly reduced frontend code duplication.</a:t>
            </a:r>
          </a:p>
          <a:p>
            <a:pPr>
              <a:defRPr sz="1600"/>
            </a:pPr>
            <a:r>
              <a:t>• Dependency Injection: FastAPI's 'Depends' system proved invaluable for decoupled, testable auth and database session management.</a:t>
            </a:r>
          </a:p>
          <a:p>
            <a:pPr>
              <a:defRPr sz="1600"/>
            </a:pPr>
            <a:r>
              <a:t>• Schema Driven Design: Defining database models and Pydantic schemas first ensured a robust, bug-free data flow.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t>• The Sambhav PMS is a production-ready, highly secure, and scalable Enterprise application.</a:t>
            </a:r>
          </a:p>
          <a:p>
            <a:pPr>
              <a:defRPr sz="1600"/>
            </a:pPr>
            <a:r>
              <a:t>• It solves critical business data fragmentation using modern, robust technologies (React, FastAPI, Postgres).</a:t>
            </a:r>
          </a:p>
          <a:p>
            <a:pPr>
              <a:defRPr sz="1600"/>
            </a:pPr>
            <a:r>
              <a:t>• Strict role-based multi-tenancy ensures data integrity, backed by comprehensive audit trails.</a:t>
            </a:r>
          </a:p>
          <a:p>
            <a:pPr>
              <a:defRPr sz="1600"/>
            </a:pPr>
            <a:r>
              <a:t>• Designed with maintainability in mind, ready for future expansion and horizontal scaling.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11</TotalTime>
  <Words>2129</Words>
  <Application>Microsoft Office PowerPoint</Application>
  <PresentationFormat>On-screen Show (4:3)</PresentationFormat>
  <Paragraphs>177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 Light</vt:lpstr>
      <vt:lpstr>Metropolitan</vt:lpstr>
      <vt:lpstr>Sambhav PMS</vt:lpstr>
      <vt:lpstr>Executive Summary</vt:lpstr>
      <vt:lpstr>High-Level System Architecture</vt:lpstr>
      <vt:lpstr>Complete Technology Stack</vt:lpstr>
      <vt:lpstr>Complete Folder Structure</vt:lpstr>
      <vt:lpstr>Frontend Architecture</vt:lpstr>
      <vt:lpstr>Backend Architecture</vt:lpstr>
      <vt:lpstr>Database Design</vt:lpstr>
      <vt:lpstr>Authentication</vt:lpstr>
      <vt:lpstr>Authorization</vt:lpstr>
      <vt:lpstr>User Panels</vt:lpstr>
      <vt:lpstr>Role Hierarchy</vt:lpstr>
      <vt:lpstr>Major Features</vt:lpstr>
      <vt:lpstr>Complete Module Breakdown</vt:lpstr>
      <vt:lpstr>API Architecture</vt:lpstr>
      <vt:lpstr>Request Lifecycle</vt:lpstr>
      <vt:lpstr>Security Architecture</vt:lpstr>
      <vt:lpstr>Middleware Architecture</vt:lpstr>
      <vt:lpstr>Validation Strategy</vt:lpstr>
      <vt:lpstr>Logging &amp; Monitoring</vt:lpstr>
      <vt:lpstr>Performance Optimizations</vt:lpstr>
      <vt:lpstr>Deployment Architecture</vt:lpstr>
      <vt:lpstr>Third-Party Integrations</vt:lpstr>
      <vt:lpstr>Project Workflows</vt:lpstr>
      <vt:lpstr>Error Handling Strategy</vt:lpstr>
      <vt:lpstr>Project Strengths</vt:lpstr>
      <vt:lpstr>Possible Future Enhancements</vt:lpstr>
      <vt:lpstr>Key Engineering Learnings</vt:lpstr>
      <vt:lpstr>Complete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Prabhu Ingole</cp:lastModifiedBy>
  <cp:revision>2</cp:revision>
  <dcterms:created xsi:type="dcterms:W3CDTF">2013-01-27T09:14:16Z</dcterms:created>
  <dcterms:modified xsi:type="dcterms:W3CDTF">2026-06-27T06:44:39Z</dcterms:modified>
  <cp:category/>
</cp:coreProperties>
</file>